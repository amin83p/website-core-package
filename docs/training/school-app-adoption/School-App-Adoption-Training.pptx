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97386" autoAdjust="0"/>
  </p:normalViewPr>
  <p:slideViewPr>
    <p:cSldViewPr snapToGrid="0" snapToObjects="1">
      <p:cViewPr varScale="1">
        <p:scale>
          <a:sx n="155" d="100"/>
          <a:sy n="155" d="100"/>
        </p:scale>
        <p:origin x="4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500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88400C-4512-7BAD-1563-8F8122AE6A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C7E89-00B3-C5FD-6174-73E71AE7C7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11FA2-0E07-4840-BE4C-63348A5504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A9485-4233-7795-F843-A28D4AF6BE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9B54A-6270-25F1-EC2C-74754519BD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4CF3C-8322-41C8-B5FF-83817E49A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981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04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Goals: why we adopted the app, who it helps, and what teachers do every teaching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Emphasize consistency: when data lives in one system, fewer surprises for families and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are not being watched for micromanagement — the system protects everyone when questions come up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high level; policy details live with your admin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is complete sessions, not perfect prose in every note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Migration is about sustainability and reliability, not change for its own sake.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learning curve; the daily path is short and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data, different lenses — teachers enter, staff operate, managers oversee.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short daily deck in docs/training/teacher-daily-app for a refresher.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Staff slides are overview only — their training is role-specific.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Leadership cares about completion rates and audit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to hands-on walkthrough with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front door for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Weekly + today's anchor for planning; Daily on teaching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session at a time — repeat for every class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Tour the layout before diving into attendance.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Blur student names in training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Skip only if your school explicitly allows empty notes — default is fill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no assignments show, your school may not use session reports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Skip when no book was used — only when truly N/A.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 every session needs cases — use when something must be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Grade book is disabled or 'coming soon', skip and note for your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 status is separate from attendance — both may be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Verification is how you know the week is caught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Leave time for questions; offer 5 minutes hands-on if in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55218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9FAD3-4D61-5F8A-FAE7-D903064C8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18037" y="631579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F2CE83-F963-44F5-8B89-BDA7C89A5B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311" y="635336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65C32-3008-32DD-CBEF-1EF9ED41B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755218" y="633420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A907A-FD33-8CA4-21C0-38223BDADA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3954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C8C3C-A2BA-317E-E4FB-C6B9FFCA8D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54859" y="637940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458738-1B61-0F56-91E0-414D24816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30312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A77B0E-AB45-81EC-86B3-D0FCA63847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22365" y="639246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E77D14-96A3-0E19-6FC7-15D7F86069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3954" y="6354858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80066-A252-934E-B528-CDE977929B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55218" y="632806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2E2278-B8F8-27FD-9E0B-A8E4FD597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182" y="5741916"/>
            <a:ext cx="2378650" cy="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9033050" cy="21493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12529"/>
                </a:solidFill>
                <a:latin typeface="Segoe UI"/>
              </a:defRPr>
            </a:pPr>
            <a:r>
              <a:rPr sz="5400" dirty="0"/>
              <a:t>Why we use the school app</a:t>
            </a:r>
          </a:p>
          <a:p>
            <a:pPr>
              <a:spcBef>
                <a:spcPts val="1400"/>
              </a:spcBef>
              <a:defRPr sz="2400">
                <a:solidFill>
                  <a:srgbClr val="0D6EFD"/>
                </a:solidFill>
                <a:latin typeface="Segoe UI"/>
              </a:defRPr>
            </a:pPr>
            <a:r>
              <a:rPr lang="en-US" sz="3200" b="1" dirty="0"/>
              <a:t>EQU Portal</a:t>
            </a:r>
            <a:endParaRPr sz="3200" b="1" dirty="0"/>
          </a:p>
          <a:p>
            <a:pPr>
              <a:spcBef>
                <a:spcPts val="2400"/>
              </a:spcBef>
              <a:defRPr sz="1600">
                <a:solidFill>
                  <a:srgbClr val="6C757D"/>
                </a:solidFill>
                <a:latin typeface="Segoe UI"/>
              </a:defRPr>
            </a:pPr>
            <a:r>
              <a:rPr b="1" dirty="0"/>
              <a:t>Migration · Teachers · Staff · Leadership · Daily routine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rPr dirty="0"/>
              <a:t>Training deck — replace screenshot placeholders with your captures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One place for the school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59" y="1329587"/>
            <a:ext cx="11138381" cy="3725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000" dirty="0"/>
              <a:t>Single source of truth for schedules, sessions, and records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000" dirty="0"/>
              <a:t>Less duplicate spreadsheets, email threads, and paper handoffs</a:t>
            </a:r>
          </a:p>
          <a:p>
            <a:pPr marL="457200" indent="-4572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000" dirty="0"/>
              <a:t>Everyone works from the same dates, classes, and session statuses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Accountability and </a:t>
            </a:r>
            <a:r>
              <a:rPr lang="en-US" dirty="0"/>
              <a:t>A</a:t>
            </a:r>
            <a:r>
              <a:rPr dirty="0"/>
              <a:t>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1539975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600" dirty="0">
                <a:latin typeface="+mj-lt"/>
              </a:rPr>
              <a:t>Role-based permissions — </a:t>
            </a:r>
            <a:endParaRPr lang="en-US" sz="3600" dirty="0">
              <a:latin typeface="+mj-lt"/>
            </a:endParaRP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lang="en-US" sz="3600" dirty="0">
                <a:latin typeface="+mj-lt"/>
              </a:rPr>
              <a:t>	</a:t>
            </a:r>
            <a:r>
              <a:rPr sz="3600" dirty="0">
                <a:latin typeface="+mj-lt"/>
              </a:rPr>
              <a:t>teachers see their work; offices see what they need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600" dirty="0">
                <a:latin typeface="+mj-lt"/>
              </a:rPr>
              <a:t>Changes are tied to accounts, not anonymous files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600" dirty="0">
                <a:latin typeface="+mj-lt"/>
              </a:rPr>
              <a:t>Audit-friendly history for attendance and session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Better </a:t>
            </a:r>
            <a:r>
              <a:rPr lang="en-US" dirty="0"/>
              <a:t>O</a:t>
            </a:r>
            <a:r>
              <a:rPr dirty="0"/>
              <a:t>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59" y="1508760"/>
            <a:ext cx="11249591" cy="248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200" dirty="0">
                <a:latin typeface="+mj-lt"/>
              </a:rPr>
              <a:t>Continuity for students when staff or teachers change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200" dirty="0">
                <a:latin typeface="+mj-lt"/>
              </a:rPr>
              <a:t>Compliance with school policies and reporting requirements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3200" dirty="0">
                <a:latin typeface="+mj-lt"/>
              </a:rPr>
              <a:t>Cleaner handoff to payroll and timesheet processes where linked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What "</a:t>
            </a:r>
            <a:r>
              <a:rPr lang="en-US" dirty="0"/>
              <a:t>G</a:t>
            </a:r>
            <a:r>
              <a:rPr dirty="0"/>
              <a:t>ood" </a:t>
            </a:r>
            <a:r>
              <a:rPr lang="en-US" dirty="0"/>
              <a:t>L</a:t>
            </a:r>
            <a:r>
              <a:rPr dirty="0"/>
              <a:t>ooks </a:t>
            </a:r>
            <a:r>
              <a:rPr lang="en-US" dirty="0"/>
              <a:t>L</a:t>
            </a:r>
            <a:r>
              <a:rPr dirty="0"/>
              <a:t>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515600" cy="220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Every taught session is opened in Manage Session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Attendance, notes, and assigned reports are filled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Session status moves to Completed and Save session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Why we moved to this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1224878" cy="220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Scheduling, session work, and attendance live in one platform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Security and hosting aligned with school IT standards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One codebase we can improve — fixes and features benefit everyone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What changes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1286662" cy="45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Your teaching in the classroom stays the same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You record the day in the app instead of scattered tools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b="1" dirty="0"/>
              <a:t>Daily habit</a:t>
            </a:r>
            <a:r>
              <a:rPr sz="2800" dirty="0"/>
              <a:t>: </a:t>
            </a:r>
            <a:r>
              <a:rPr lang="en-US" sz="2800" dirty="0"/>
              <a:t>	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School dashboard → </a:t>
            </a:r>
            <a:endParaRPr lang="en-US" sz="2800" dirty="0"/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lang="en-US" sz="2800" dirty="0"/>
              <a:t>							</a:t>
            </a:r>
            <a:r>
              <a:rPr sz="2800" dirty="0"/>
              <a:t>Schedule Overview → </a:t>
            </a:r>
            <a:endParaRPr lang="en-US" sz="2800" dirty="0"/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lang="en-US" sz="2800" dirty="0"/>
              <a:t>															E</a:t>
            </a:r>
            <a:r>
              <a:rPr sz="2800" dirty="0"/>
              <a:t>ach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Three groups, one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960" y="1093573"/>
            <a:ext cx="3520440" cy="3977639"/>
          </a:xfrm>
          <a:prstGeom prst="rect">
            <a:avLst/>
          </a:prstGeom>
          <a:solidFill>
            <a:srgbClr val="F3F8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6EFD"/>
                </a:solidFill>
                <a:latin typeface="Segoe UI"/>
              </a:defRPr>
            </a:pPr>
            <a:r>
              <a:t>Teachers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See today's sessions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One Manage Session workspace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Clear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35627" y="1508760"/>
            <a:ext cx="3520440" cy="3977639"/>
          </a:xfrm>
          <a:prstGeom prst="rect">
            <a:avLst/>
          </a:prstGeom>
          <a:solidFill>
            <a:srgbClr val="F3F8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6EFD"/>
                </a:solidFill>
                <a:latin typeface="Segoe UI"/>
              </a:defRPr>
            </a:pPr>
            <a:r>
              <a:t>Staff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Enrollment &amp; records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Less chasing missing data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Shared student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67817" y="2353962"/>
            <a:ext cx="3520440" cy="3977639"/>
          </a:xfrm>
          <a:prstGeom prst="rect">
            <a:avLst/>
          </a:prstGeom>
          <a:solidFill>
            <a:srgbClr val="F3F8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6EFD"/>
                </a:solidFill>
                <a:latin typeface="Segoe UI"/>
              </a:defRPr>
            </a:pPr>
            <a:r>
              <a:t>Managers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Visibility &amp; reports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Policies &amp; access windows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  <a:latin typeface="Segoe UI"/>
              </a:defRPr>
            </a:pPr>
            <a:r>
              <a:t>Oversight without micromanaging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How the app helps teachers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1064240" cy="220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b="1" dirty="0"/>
              <a:t>Schedule Overview </a:t>
            </a:r>
            <a:r>
              <a:rPr sz="2800" dirty="0"/>
              <a:t>shows what you teach and what's already done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Manage Session is one workspace per class meeting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Completed status makes 'caught up' visible to you and the office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How the app helps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0957" y="1508760"/>
            <a:ext cx="11825415" cy="220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Enrollment,</a:t>
            </a:r>
            <a:r>
              <a:rPr lang="en-US" sz="2800" dirty="0"/>
              <a:t> Books</a:t>
            </a:r>
            <a:r>
              <a:rPr sz="2800" dirty="0"/>
              <a:t>, </a:t>
            </a:r>
            <a:r>
              <a:rPr lang="en-US" sz="2800" dirty="0"/>
              <a:t>Reporting, </a:t>
            </a:r>
            <a:r>
              <a:rPr sz="2800" dirty="0"/>
              <a:t>and communications pull from shared data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Fewer calls to chase attendance sheets or session paperwork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Student cases and reports arrive in context of the right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How the app helps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515600" cy="2207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Dashboards and reports without opening every teacher's files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Session access and completion policies enforced in the app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rPr sz="2800" dirty="0"/>
              <a:t>Support teachers with clear expectations, not cell-by-cell policing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rPr dirty="0"/>
              <a:t>Your daily routine</a:t>
            </a:r>
          </a:p>
          <a:p>
            <a:pPr>
              <a:spcBef>
                <a:spcPts val="600"/>
              </a:spcBef>
              <a:defRPr sz="1800">
                <a:solidFill>
                  <a:srgbClr val="6C757D"/>
                </a:solidFill>
                <a:latin typeface="Segoe UI"/>
              </a:defRPr>
            </a:pPr>
            <a:r>
              <a:rPr dirty="0"/>
              <a:t>Every teaching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00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C757D"/>
                </a:solidFill>
                <a:latin typeface="Segoe UI"/>
              </a:defRPr>
            </a:pPr>
            <a:r>
              <a:t>Open Schedule Overview → each session → Manage Session → save →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Start on the dashboard</a:t>
            </a:r>
          </a:p>
          <a:p>
            <a:pPr>
              <a:spcBef>
                <a:spcPts val="600"/>
              </a:spcBef>
              <a:defRPr sz="1800">
                <a:solidFill>
                  <a:srgbClr val="6C757D"/>
                </a:solidFill>
                <a:latin typeface="Segoe UI"/>
              </a:defRPr>
            </a:pPr>
            <a:r>
              <a:t>School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4252206" cy="1676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rPr sz="2000" dirty="0"/>
              <a:t>Log in and </a:t>
            </a:r>
            <a:r>
              <a:rPr lang="en-US" sz="2000" dirty="0"/>
              <a:t>on the main Dashboard</a:t>
            </a:r>
            <a:endParaRPr sz="2000" dirty="0"/>
          </a:p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rPr sz="2000" dirty="0"/>
              <a:t>Find </a:t>
            </a:r>
            <a:r>
              <a:rPr sz="2000" b="1" dirty="0"/>
              <a:t>My Schedule</a:t>
            </a:r>
            <a:endParaRPr sz="2000" dirty="0"/>
          </a:p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rPr sz="2000" dirty="0"/>
              <a:t>Click Open My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B4E40-6E87-8651-4BCF-CA8C606E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37" r="1959" b="4666"/>
          <a:stretch>
            <a:fillRect/>
          </a:stretch>
        </p:blipFill>
        <p:spPr>
          <a:xfrm>
            <a:off x="4846566" y="1106198"/>
            <a:ext cx="7034674" cy="4577909"/>
          </a:xfrm>
          <a:prstGeom prst="rect">
            <a:avLst/>
          </a:pr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33227970">
                  <a:custGeom>
                    <a:avLst/>
                    <a:gdLst>
                      <a:gd name="csX0" fmla="*/ 0 w 6010620"/>
                      <a:gd name="csY0" fmla="*/ 0 h 3911492"/>
                      <a:gd name="csX1" fmla="*/ 426208 w 6010620"/>
                      <a:gd name="csY1" fmla="*/ 0 h 3911492"/>
                      <a:gd name="csX2" fmla="*/ 792309 w 6010620"/>
                      <a:gd name="csY2" fmla="*/ 0 h 3911492"/>
                      <a:gd name="csX3" fmla="*/ 1338729 w 6010620"/>
                      <a:gd name="csY3" fmla="*/ 0 h 3911492"/>
                      <a:gd name="csX4" fmla="*/ 1704830 w 6010620"/>
                      <a:gd name="csY4" fmla="*/ 0 h 3911492"/>
                      <a:gd name="csX5" fmla="*/ 2371463 w 6010620"/>
                      <a:gd name="csY5" fmla="*/ 0 h 3911492"/>
                      <a:gd name="csX6" fmla="*/ 2737564 w 6010620"/>
                      <a:gd name="csY6" fmla="*/ 0 h 3911492"/>
                      <a:gd name="csX7" fmla="*/ 3223878 w 6010620"/>
                      <a:gd name="csY7" fmla="*/ 0 h 3911492"/>
                      <a:gd name="csX8" fmla="*/ 3589979 w 6010620"/>
                      <a:gd name="csY8" fmla="*/ 0 h 3911492"/>
                      <a:gd name="csX9" fmla="*/ 4136399 w 6010620"/>
                      <a:gd name="csY9" fmla="*/ 0 h 3911492"/>
                      <a:gd name="csX10" fmla="*/ 4803032 w 6010620"/>
                      <a:gd name="csY10" fmla="*/ 0 h 3911492"/>
                      <a:gd name="csX11" fmla="*/ 5229239 w 6010620"/>
                      <a:gd name="csY11" fmla="*/ 0 h 3911492"/>
                      <a:gd name="csX12" fmla="*/ 6010620 w 6010620"/>
                      <a:gd name="csY12" fmla="*/ 0 h 3911492"/>
                      <a:gd name="csX13" fmla="*/ 6010620 w 6010620"/>
                      <a:gd name="csY13" fmla="*/ 637014 h 3911492"/>
                      <a:gd name="csX14" fmla="*/ 6010620 w 6010620"/>
                      <a:gd name="csY14" fmla="*/ 1078454 h 3911492"/>
                      <a:gd name="csX15" fmla="*/ 6010620 w 6010620"/>
                      <a:gd name="csY15" fmla="*/ 1598124 h 3911492"/>
                      <a:gd name="csX16" fmla="*/ 6010620 w 6010620"/>
                      <a:gd name="csY16" fmla="*/ 2156908 h 3911492"/>
                      <a:gd name="csX17" fmla="*/ 6010620 w 6010620"/>
                      <a:gd name="csY17" fmla="*/ 2598348 h 3911492"/>
                      <a:gd name="csX18" fmla="*/ 6010620 w 6010620"/>
                      <a:gd name="csY18" fmla="*/ 3078903 h 3911492"/>
                      <a:gd name="csX19" fmla="*/ 6010620 w 6010620"/>
                      <a:gd name="csY19" fmla="*/ 3911492 h 3911492"/>
                      <a:gd name="csX20" fmla="*/ 5644519 w 6010620"/>
                      <a:gd name="csY20" fmla="*/ 3911492 h 3911492"/>
                      <a:gd name="csX21" fmla="*/ 5218311 w 6010620"/>
                      <a:gd name="csY21" fmla="*/ 3911492 h 3911492"/>
                      <a:gd name="csX22" fmla="*/ 4852210 w 6010620"/>
                      <a:gd name="csY22" fmla="*/ 3911492 h 3911492"/>
                      <a:gd name="csX23" fmla="*/ 4486108 w 6010620"/>
                      <a:gd name="csY23" fmla="*/ 3911492 h 3911492"/>
                      <a:gd name="csX24" fmla="*/ 3999794 w 6010620"/>
                      <a:gd name="csY24" fmla="*/ 3911492 h 3911492"/>
                      <a:gd name="csX25" fmla="*/ 3633693 w 6010620"/>
                      <a:gd name="csY25" fmla="*/ 3911492 h 3911492"/>
                      <a:gd name="csX26" fmla="*/ 3207485 w 6010620"/>
                      <a:gd name="csY26" fmla="*/ 3911492 h 3911492"/>
                      <a:gd name="csX27" fmla="*/ 2841384 w 6010620"/>
                      <a:gd name="csY27" fmla="*/ 3911492 h 3911492"/>
                      <a:gd name="csX28" fmla="*/ 2294964 w 6010620"/>
                      <a:gd name="csY28" fmla="*/ 3911492 h 3911492"/>
                      <a:gd name="csX29" fmla="*/ 1688438 w 6010620"/>
                      <a:gd name="csY29" fmla="*/ 3911492 h 3911492"/>
                      <a:gd name="csX30" fmla="*/ 1322336 w 6010620"/>
                      <a:gd name="csY30" fmla="*/ 3911492 h 3911492"/>
                      <a:gd name="csX31" fmla="*/ 655704 w 6010620"/>
                      <a:gd name="csY31" fmla="*/ 3911492 h 3911492"/>
                      <a:gd name="csX32" fmla="*/ 0 w 6010620"/>
                      <a:gd name="csY32" fmla="*/ 3911492 h 3911492"/>
                      <a:gd name="csX33" fmla="*/ 0 w 6010620"/>
                      <a:gd name="csY33" fmla="*/ 3391822 h 3911492"/>
                      <a:gd name="csX34" fmla="*/ 0 w 6010620"/>
                      <a:gd name="csY34" fmla="*/ 2911268 h 3911492"/>
                      <a:gd name="csX35" fmla="*/ 0 w 6010620"/>
                      <a:gd name="csY35" fmla="*/ 2469828 h 3911492"/>
                      <a:gd name="csX36" fmla="*/ 0 w 6010620"/>
                      <a:gd name="csY36" fmla="*/ 1832813 h 3911492"/>
                      <a:gd name="csX37" fmla="*/ 0 w 6010620"/>
                      <a:gd name="csY37" fmla="*/ 1234914 h 3911492"/>
                      <a:gd name="csX38" fmla="*/ 0 w 6010620"/>
                      <a:gd name="csY38" fmla="*/ 637014 h 3911492"/>
                      <a:gd name="csX39" fmla="*/ 0 w 6010620"/>
                      <a:gd name="csY39" fmla="*/ 0 h 39114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</a:cxnLst>
                    <a:rect l="l" t="t" r="r" b="b"/>
                    <a:pathLst>
                      <a:path w="6010620" h="3911492" fill="none" extrusionOk="0">
                        <a:moveTo>
                          <a:pt x="0" y="0"/>
                        </a:moveTo>
                        <a:cubicBezTo>
                          <a:pt x="181916" y="-8624"/>
                          <a:pt x="229010" y="1507"/>
                          <a:pt x="426208" y="0"/>
                        </a:cubicBezTo>
                        <a:cubicBezTo>
                          <a:pt x="623406" y="-1507"/>
                          <a:pt x="626284" y="26783"/>
                          <a:pt x="792309" y="0"/>
                        </a:cubicBezTo>
                        <a:cubicBezTo>
                          <a:pt x="958334" y="-26783"/>
                          <a:pt x="1117822" y="49355"/>
                          <a:pt x="1338729" y="0"/>
                        </a:cubicBezTo>
                        <a:cubicBezTo>
                          <a:pt x="1559636" y="-49355"/>
                          <a:pt x="1538900" y="25060"/>
                          <a:pt x="1704830" y="0"/>
                        </a:cubicBezTo>
                        <a:cubicBezTo>
                          <a:pt x="1870760" y="-25060"/>
                          <a:pt x="2065549" y="16380"/>
                          <a:pt x="2371463" y="0"/>
                        </a:cubicBezTo>
                        <a:cubicBezTo>
                          <a:pt x="2677377" y="-16380"/>
                          <a:pt x="2662603" y="6465"/>
                          <a:pt x="2737564" y="0"/>
                        </a:cubicBezTo>
                        <a:cubicBezTo>
                          <a:pt x="2812525" y="-6465"/>
                          <a:pt x="3113803" y="29363"/>
                          <a:pt x="3223878" y="0"/>
                        </a:cubicBezTo>
                        <a:cubicBezTo>
                          <a:pt x="3333953" y="-29363"/>
                          <a:pt x="3434046" y="32080"/>
                          <a:pt x="3589979" y="0"/>
                        </a:cubicBezTo>
                        <a:cubicBezTo>
                          <a:pt x="3745912" y="-32080"/>
                          <a:pt x="3949648" y="20835"/>
                          <a:pt x="4136399" y="0"/>
                        </a:cubicBezTo>
                        <a:cubicBezTo>
                          <a:pt x="4323150" y="-20835"/>
                          <a:pt x="4586920" y="44533"/>
                          <a:pt x="4803032" y="0"/>
                        </a:cubicBezTo>
                        <a:cubicBezTo>
                          <a:pt x="5019144" y="-44533"/>
                          <a:pt x="5025789" y="17275"/>
                          <a:pt x="5229239" y="0"/>
                        </a:cubicBezTo>
                        <a:cubicBezTo>
                          <a:pt x="5432689" y="-17275"/>
                          <a:pt x="5658000" y="17265"/>
                          <a:pt x="6010620" y="0"/>
                        </a:cubicBezTo>
                        <a:cubicBezTo>
                          <a:pt x="6080398" y="163477"/>
                          <a:pt x="5957518" y="480702"/>
                          <a:pt x="6010620" y="637014"/>
                        </a:cubicBezTo>
                        <a:cubicBezTo>
                          <a:pt x="6063722" y="793326"/>
                          <a:pt x="6003914" y="982775"/>
                          <a:pt x="6010620" y="1078454"/>
                        </a:cubicBezTo>
                        <a:cubicBezTo>
                          <a:pt x="6017326" y="1174133"/>
                          <a:pt x="5993517" y="1355125"/>
                          <a:pt x="6010620" y="1598124"/>
                        </a:cubicBezTo>
                        <a:cubicBezTo>
                          <a:pt x="6027723" y="1841123"/>
                          <a:pt x="5950049" y="2040563"/>
                          <a:pt x="6010620" y="2156908"/>
                        </a:cubicBezTo>
                        <a:cubicBezTo>
                          <a:pt x="6071191" y="2273253"/>
                          <a:pt x="6010510" y="2505687"/>
                          <a:pt x="6010620" y="2598348"/>
                        </a:cubicBezTo>
                        <a:cubicBezTo>
                          <a:pt x="6010730" y="2691009"/>
                          <a:pt x="5999237" y="2871465"/>
                          <a:pt x="6010620" y="3078903"/>
                        </a:cubicBezTo>
                        <a:cubicBezTo>
                          <a:pt x="6022003" y="3286341"/>
                          <a:pt x="5948251" y="3576639"/>
                          <a:pt x="6010620" y="3911492"/>
                        </a:cubicBezTo>
                        <a:cubicBezTo>
                          <a:pt x="5868309" y="3955265"/>
                          <a:pt x="5810421" y="3876745"/>
                          <a:pt x="5644519" y="3911492"/>
                        </a:cubicBezTo>
                        <a:cubicBezTo>
                          <a:pt x="5478617" y="3946239"/>
                          <a:pt x="5386203" y="3871678"/>
                          <a:pt x="5218311" y="3911492"/>
                        </a:cubicBezTo>
                        <a:cubicBezTo>
                          <a:pt x="5050419" y="3951306"/>
                          <a:pt x="5002818" y="3904112"/>
                          <a:pt x="4852210" y="3911492"/>
                        </a:cubicBezTo>
                        <a:cubicBezTo>
                          <a:pt x="4701602" y="3918872"/>
                          <a:pt x="4589996" y="3882934"/>
                          <a:pt x="4486108" y="3911492"/>
                        </a:cubicBezTo>
                        <a:cubicBezTo>
                          <a:pt x="4382220" y="3940050"/>
                          <a:pt x="4164652" y="3869671"/>
                          <a:pt x="3999794" y="3911492"/>
                        </a:cubicBezTo>
                        <a:cubicBezTo>
                          <a:pt x="3834936" y="3953313"/>
                          <a:pt x="3782476" y="3869422"/>
                          <a:pt x="3633693" y="3911492"/>
                        </a:cubicBezTo>
                        <a:cubicBezTo>
                          <a:pt x="3484910" y="3953562"/>
                          <a:pt x="3311980" y="3868365"/>
                          <a:pt x="3207485" y="3911492"/>
                        </a:cubicBezTo>
                        <a:cubicBezTo>
                          <a:pt x="3102990" y="3954619"/>
                          <a:pt x="2965659" y="3907733"/>
                          <a:pt x="2841384" y="3911492"/>
                        </a:cubicBezTo>
                        <a:cubicBezTo>
                          <a:pt x="2717109" y="3915251"/>
                          <a:pt x="2537855" y="3868253"/>
                          <a:pt x="2294964" y="3911492"/>
                        </a:cubicBezTo>
                        <a:cubicBezTo>
                          <a:pt x="2052073" y="3954731"/>
                          <a:pt x="1890923" y="3869098"/>
                          <a:pt x="1688438" y="3911492"/>
                        </a:cubicBezTo>
                        <a:cubicBezTo>
                          <a:pt x="1485953" y="3953886"/>
                          <a:pt x="1505140" y="3905717"/>
                          <a:pt x="1322336" y="3911492"/>
                        </a:cubicBezTo>
                        <a:cubicBezTo>
                          <a:pt x="1139532" y="3917267"/>
                          <a:pt x="974973" y="3904703"/>
                          <a:pt x="655704" y="3911492"/>
                        </a:cubicBezTo>
                        <a:cubicBezTo>
                          <a:pt x="336435" y="3918281"/>
                          <a:pt x="172498" y="3850056"/>
                          <a:pt x="0" y="3911492"/>
                        </a:cubicBezTo>
                        <a:cubicBezTo>
                          <a:pt x="-5005" y="3748595"/>
                          <a:pt x="22271" y="3569258"/>
                          <a:pt x="0" y="3391822"/>
                        </a:cubicBezTo>
                        <a:cubicBezTo>
                          <a:pt x="-22271" y="3214386"/>
                          <a:pt x="48088" y="3082748"/>
                          <a:pt x="0" y="2911268"/>
                        </a:cubicBezTo>
                        <a:cubicBezTo>
                          <a:pt x="-48088" y="2739788"/>
                          <a:pt x="37222" y="2565574"/>
                          <a:pt x="0" y="2469828"/>
                        </a:cubicBezTo>
                        <a:cubicBezTo>
                          <a:pt x="-37222" y="2374082"/>
                          <a:pt x="54810" y="2140840"/>
                          <a:pt x="0" y="1832813"/>
                        </a:cubicBezTo>
                        <a:cubicBezTo>
                          <a:pt x="-54810" y="1524786"/>
                          <a:pt x="67956" y="1492840"/>
                          <a:pt x="0" y="1234914"/>
                        </a:cubicBezTo>
                        <a:cubicBezTo>
                          <a:pt x="-67956" y="976988"/>
                          <a:pt x="25453" y="893459"/>
                          <a:pt x="0" y="637014"/>
                        </a:cubicBezTo>
                        <a:cubicBezTo>
                          <a:pt x="-25453" y="380569"/>
                          <a:pt x="13382" y="307315"/>
                          <a:pt x="0" y="0"/>
                        </a:cubicBezTo>
                        <a:close/>
                      </a:path>
                      <a:path w="6010620" h="3911492" stroke="0" extrusionOk="0">
                        <a:moveTo>
                          <a:pt x="0" y="0"/>
                        </a:moveTo>
                        <a:cubicBezTo>
                          <a:pt x="155848" y="-16789"/>
                          <a:pt x="308872" y="17123"/>
                          <a:pt x="426208" y="0"/>
                        </a:cubicBezTo>
                        <a:cubicBezTo>
                          <a:pt x="543544" y="-17123"/>
                          <a:pt x="646636" y="31121"/>
                          <a:pt x="792309" y="0"/>
                        </a:cubicBezTo>
                        <a:cubicBezTo>
                          <a:pt x="937982" y="-31121"/>
                          <a:pt x="1126666" y="28255"/>
                          <a:pt x="1218517" y="0"/>
                        </a:cubicBezTo>
                        <a:cubicBezTo>
                          <a:pt x="1310368" y="-28255"/>
                          <a:pt x="1508885" y="14880"/>
                          <a:pt x="1584618" y="0"/>
                        </a:cubicBezTo>
                        <a:cubicBezTo>
                          <a:pt x="1660351" y="-14880"/>
                          <a:pt x="1939818" y="3483"/>
                          <a:pt x="2191144" y="0"/>
                        </a:cubicBezTo>
                        <a:cubicBezTo>
                          <a:pt x="2442470" y="-3483"/>
                          <a:pt x="2591907" y="61548"/>
                          <a:pt x="2857777" y="0"/>
                        </a:cubicBezTo>
                        <a:cubicBezTo>
                          <a:pt x="3123647" y="-61548"/>
                          <a:pt x="3118933" y="57131"/>
                          <a:pt x="3344090" y="0"/>
                        </a:cubicBezTo>
                        <a:cubicBezTo>
                          <a:pt x="3569247" y="-57131"/>
                          <a:pt x="3682700" y="13667"/>
                          <a:pt x="3770298" y="0"/>
                        </a:cubicBezTo>
                        <a:cubicBezTo>
                          <a:pt x="3857896" y="-13667"/>
                          <a:pt x="4013765" y="5078"/>
                          <a:pt x="4196506" y="0"/>
                        </a:cubicBezTo>
                        <a:cubicBezTo>
                          <a:pt x="4379247" y="-5078"/>
                          <a:pt x="4441824" y="7913"/>
                          <a:pt x="4562607" y="0"/>
                        </a:cubicBezTo>
                        <a:cubicBezTo>
                          <a:pt x="4683390" y="-7913"/>
                          <a:pt x="4857259" y="45075"/>
                          <a:pt x="5109027" y="0"/>
                        </a:cubicBezTo>
                        <a:cubicBezTo>
                          <a:pt x="5360795" y="-45075"/>
                          <a:pt x="5713197" y="18852"/>
                          <a:pt x="6010620" y="0"/>
                        </a:cubicBezTo>
                        <a:cubicBezTo>
                          <a:pt x="6045145" y="144792"/>
                          <a:pt x="5985074" y="283952"/>
                          <a:pt x="6010620" y="558785"/>
                        </a:cubicBezTo>
                        <a:cubicBezTo>
                          <a:pt x="6036166" y="833618"/>
                          <a:pt x="5993940" y="876121"/>
                          <a:pt x="6010620" y="1000224"/>
                        </a:cubicBezTo>
                        <a:cubicBezTo>
                          <a:pt x="6027300" y="1124327"/>
                          <a:pt x="5973152" y="1241908"/>
                          <a:pt x="6010620" y="1480779"/>
                        </a:cubicBezTo>
                        <a:cubicBezTo>
                          <a:pt x="6048088" y="1719650"/>
                          <a:pt x="5966371" y="1829783"/>
                          <a:pt x="6010620" y="2117794"/>
                        </a:cubicBezTo>
                        <a:cubicBezTo>
                          <a:pt x="6054869" y="2405805"/>
                          <a:pt x="5974487" y="2395332"/>
                          <a:pt x="6010620" y="2637463"/>
                        </a:cubicBezTo>
                        <a:cubicBezTo>
                          <a:pt x="6046753" y="2879594"/>
                          <a:pt x="5992193" y="2985524"/>
                          <a:pt x="6010620" y="3196248"/>
                        </a:cubicBezTo>
                        <a:cubicBezTo>
                          <a:pt x="6029047" y="3406972"/>
                          <a:pt x="5939952" y="3737006"/>
                          <a:pt x="6010620" y="3911492"/>
                        </a:cubicBezTo>
                        <a:cubicBezTo>
                          <a:pt x="5797533" y="3961639"/>
                          <a:pt x="5711634" y="3865242"/>
                          <a:pt x="5584412" y="3911492"/>
                        </a:cubicBezTo>
                        <a:cubicBezTo>
                          <a:pt x="5457190" y="3957742"/>
                          <a:pt x="5317139" y="3891134"/>
                          <a:pt x="5158205" y="3911492"/>
                        </a:cubicBezTo>
                        <a:cubicBezTo>
                          <a:pt x="4999271" y="3931850"/>
                          <a:pt x="4814102" y="3888853"/>
                          <a:pt x="4671891" y="3911492"/>
                        </a:cubicBezTo>
                        <a:cubicBezTo>
                          <a:pt x="4529680" y="3934131"/>
                          <a:pt x="4333107" y="3879639"/>
                          <a:pt x="4065365" y="3911492"/>
                        </a:cubicBezTo>
                        <a:cubicBezTo>
                          <a:pt x="3797623" y="3943345"/>
                          <a:pt x="3766469" y="3897159"/>
                          <a:pt x="3639157" y="3911492"/>
                        </a:cubicBezTo>
                        <a:cubicBezTo>
                          <a:pt x="3511845" y="3925825"/>
                          <a:pt x="3419385" y="3867838"/>
                          <a:pt x="3212950" y="3911492"/>
                        </a:cubicBezTo>
                        <a:cubicBezTo>
                          <a:pt x="3006515" y="3955146"/>
                          <a:pt x="2871242" y="3855727"/>
                          <a:pt x="2726636" y="3911492"/>
                        </a:cubicBezTo>
                        <a:cubicBezTo>
                          <a:pt x="2582030" y="3967257"/>
                          <a:pt x="2484565" y="3908330"/>
                          <a:pt x="2360534" y="3911492"/>
                        </a:cubicBezTo>
                        <a:cubicBezTo>
                          <a:pt x="2236503" y="3914654"/>
                          <a:pt x="2060800" y="3882220"/>
                          <a:pt x="1934327" y="3911492"/>
                        </a:cubicBezTo>
                        <a:cubicBezTo>
                          <a:pt x="1807854" y="3940764"/>
                          <a:pt x="1598351" y="3867767"/>
                          <a:pt x="1508119" y="3911492"/>
                        </a:cubicBezTo>
                        <a:cubicBezTo>
                          <a:pt x="1417887" y="3955217"/>
                          <a:pt x="1072261" y="3856097"/>
                          <a:pt x="961699" y="3911492"/>
                        </a:cubicBezTo>
                        <a:cubicBezTo>
                          <a:pt x="851137" y="3966887"/>
                          <a:pt x="745190" y="3868543"/>
                          <a:pt x="595598" y="3911492"/>
                        </a:cubicBezTo>
                        <a:cubicBezTo>
                          <a:pt x="446006" y="3954441"/>
                          <a:pt x="147832" y="3873828"/>
                          <a:pt x="0" y="3911492"/>
                        </a:cubicBezTo>
                        <a:cubicBezTo>
                          <a:pt x="-44536" y="3723126"/>
                          <a:pt x="20660" y="3528591"/>
                          <a:pt x="0" y="3313593"/>
                        </a:cubicBezTo>
                        <a:cubicBezTo>
                          <a:pt x="-20660" y="3098595"/>
                          <a:pt x="15982" y="2923130"/>
                          <a:pt x="0" y="2676578"/>
                        </a:cubicBezTo>
                        <a:cubicBezTo>
                          <a:pt x="-15982" y="2430027"/>
                          <a:pt x="17569" y="2299047"/>
                          <a:pt x="0" y="2117794"/>
                        </a:cubicBezTo>
                        <a:cubicBezTo>
                          <a:pt x="-17569" y="1936541"/>
                          <a:pt x="29518" y="1820990"/>
                          <a:pt x="0" y="1637239"/>
                        </a:cubicBezTo>
                        <a:cubicBezTo>
                          <a:pt x="-29518" y="1453488"/>
                          <a:pt x="10842" y="1161482"/>
                          <a:pt x="0" y="1000224"/>
                        </a:cubicBezTo>
                        <a:cubicBezTo>
                          <a:pt x="-10842" y="838966"/>
                          <a:pt x="88470" y="2861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DF0153-A003-A14E-D7D8-1AB9A58627A0}"/>
              </a:ext>
            </a:extLst>
          </p:cNvPr>
          <p:cNvSpPr/>
          <p:nvPr/>
        </p:nvSpPr>
        <p:spPr>
          <a:xfrm>
            <a:off x="5121876" y="3540738"/>
            <a:ext cx="1680519" cy="688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Open Schedule Overview every day</a:t>
            </a:r>
          </a:p>
          <a:p>
            <a:pPr>
              <a:spcBef>
                <a:spcPts val="600"/>
              </a:spcBef>
              <a:defRPr sz="1800">
                <a:solidFill>
                  <a:srgbClr val="6C757D"/>
                </a:solidFill>
                <a:latin typeface="Segoe UI"/>
              </a:defRPr>
            </a:pPr>
            <a:r>
              <a:t>What am I teaching, when, and what's done?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 dirty="0"/>
              <a:t>Page title: Schedule Overview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 dirty="0"/>
              <a:t>Set Anchor Date — usually today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 dirty="0"/>
              <a:t>Choose period (Daily, Weekly, …) → Load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 dirty="0"/>
              <a:t>Scan Session Details for status colors</a:t>
            </a:r>
          </a:p>
        </p:txBody>
      </p:sp>
      <p:pic>
        <p:nvPicPr>
          <p:cNvPr id="4" name="Picture 3" descr="02-schedule-overview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2926080" cy="4709160"/>
          </a:xfrm>
          <a:prstGeom prst="rect">
            <a:avLst/>
          </a:prstGeom>
        </p:spPr>
      </p:pic>
      <p:pic>
        <p:nvPicPr>
          <p:cNvPr id="5" name="Picture 4" descr="03-filters-anchor-period-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234440"/>
            <a:ext cx="2788920" cy="4709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Pick your session</a:t>
            </a:r>
          </a:p>
          <a:p>
            <a:pPr>
              <a:spcBef>
                <a:spcPts val="600"/>
              </a:spcBef>
              <a:defRPr sz="1800">
                <a:solidFill>
                  <a:srgbClr val="6C757D"/>
                </a:solidFill>
                <a:latin typeface="Segoe UI"/>
              </a:defRPr>
            </a:pPr>
            <a:r>
              <a:t>Session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Each row = one class session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Confirm Role shows Teacher for sessions you lead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Click the row to open Manage Session</a:t>
            </a:r>
          </a:p>
        </p:txBody>
      </p:sp>
      <p:pic>
        <p:nvPicPr>
          <p:cNvPr id="4" name="Picture 3" descr="04-session-details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B1B70-8C04-D025-884A-892ECC2F03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Review session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Check date, time, room, and roster context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Note current Session status before you edit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Use the left menu to move between work areas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Save session often while you work</a:t>
            </a:r>
          </a:p>
        </p:txBody>
      </p:sp>
      <p:pic>
        <p:nvPicPr>
          <p:cNvPr id="4" name="Picture 3" descr="05-open-manage-s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34440"/>
            <a:ext cx="2834640" cy="2286000"/>
          </a:xfrm>
          <a:prstGeom prst="rect">
            <a:avLst/>
          </a:prstGeom>
        </p:spPr>
      </p:pic>
      <p:pic>
        <p:nvPicPr>
          <p:cNvPr id="5" name="Picture 4" descr="06-manage-session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234440"/>
            <a:ext cx="283464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F7338B-A0C6-CDCA-4AAF-43AB1C19563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Mark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Open the Attendance panel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Mark Present, Late, Absent, and other codes your school uses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Use Open attendance matrix when your school links matrix edits</a:t>
            </a:r>
          </a:p>
        </p:txBody>
      </p:sp>
      <p:pic>
        <p:nvPicPr>
          <p:cNvPr id="4" name="Picture 3" descr="07-attendance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7D63F-084D-B2DE-1B7C-70D8941B70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Session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Open Session &amp; notes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Record what happened instructionally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Enough detail for the next teacher or admin follow-up</a:t>
            </a:r>
          </a:p>
        </p:txBody>
      </p:sp>
      <p:pic>
        <p:nvPicPr>
          <p:cNvPr id="4" name="Picture 3" descr="08-session-n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FE890-9FE7-43AB-B756-570DA94ED64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Assigned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Open Reports in the sidebar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Complete every report assigned to you for this session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Save session after filling reports</a:t>
            </a:r>
          </a:p>
        </p:txBody>
      </p:sp>
      <p:pic>
        <p:nvPicPr>
          <p:cNvPr id="4" name="Picture 3" descr="09-reports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4F07D-C8C2-CB35-B307-CAD830E3EBB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Book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Open Book coverage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Log books or materials used in this session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Required where your program tracks library or curriculum resources</a:t>
            </a:r>
          </a:p>
        </p:txBody>
      </p:sp>
      <p:pic>
        <p:nvPicPr>
          <p:cNvPr id="4" name="Picture 3" descr="10-book-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2A078-0E90-F071-D206-9041C14F95C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Student and class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Student Cases — per-student follow-ups tied to the session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Class Conduct — class-wide conduct when your school uses it</a:t>
            </a:r>
          </a:p>
          <a:p>
            <a:pPr>
              <a:spcAft>
                <a:spcPts val="10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Report incidents and cases when policy requires it</a:t>
            </a:r>
          </a:p>
        </p:txBody>
      </p:sp>
      <p:pic>
        <p:nvPicPr>
          <p:cNvPr id="4" name="Picture 3" descr="11-student-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34440"/>
            <a:ext cx="2834640" cy="2286000"/>
          </a:xfrm>
          <a:prstGeom prst="rect">
            <a:avLst/>
          </a:prstGeom>
        </p:spPr>
      </p:pic>
      <p:pic>
        <p:nvPicPr>
          <p:cNvPr id="5" name="Picture 4" descr="12-class-con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234440"/>
            <a:ext cx="283464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A6D64-F3CE-FDF3-E8F0-D0A9ED16988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Activities and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Open Grade book when enabled for your classes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Record scored and unscored activities as your program requires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Aligns student progress with the session date</a:t>
            </a:r>
          </a:p>
        </p:txBody>
      </p:sp>
      <p:pic>
        <p:nvPicPr>
          <p:cNvPr id="4" name="Picture 3" descr="13-gradebook-activ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5A3CB-A8C4-11FE-4330-7547D21ACA7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Finish the session —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Open Session status at the top of Manage Session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Choose Completed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  <a:latin typeface="Segoe UI"/>
              </a:defRPr>
            </a:pPr>
            <a:r>
              <a:t>Look for the session completed indicator when shown</a:t>
            </a:r>
          </a:p>
        </p:txBody>
      </p:sp>
      <p:pic>
        <p:nvPicPr>
          <p:cNvPr id="4" name="Picture 3" descr="14-session-status-p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34440"/>
            <a:ext cx="585216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A8E41-B06F-5F24-5F34-27728D19CA4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Save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t>Click Save session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t>Return to Schedule Overview → Load or refresh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Segoe UI"/>
              </a:defRPr>
            </a:pPr>
            <a:r>
              <a:t>Confirm the row shows Completed</a:t>
            </a:r>
          </a:p>
        </p:txBody>
      </p:sp>
      <p:pic>
        <p:nvPicPr>
          <p:cNvPr id="4" name="Picture 3" descr="15-save-s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34440"/>
            <a:ext cx="2834640" cy="2286000"/>
          </a:xfrm>
          <a:prstGeom prst="rect">
            <a:avLst/>
          </a:prstGeom>
        </p:spPr>
      </p:pic>
      <p:pic>
        <p:nvPicPr>
          <p:cNvPr id="5" name="Picture 4" descr="16-verify-schedule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234440"/>
            <a:ext cx="283464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School app adoption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A3F218-35BB-A108-93BE-21E540F0C94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Segoe UI"/>
              </a:defRPr>
            </a:pPr>
            <a:r>
              <a:t>Daily checklist + Q&amp;A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55448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  <a:latin typeface="Segoe UI"/>
              </a:defRPr>
            </a:pPr>
            <a:r>
              <a:t>Open My Schedule from the School dashboard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404872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  <a:latin typeface="Segoe UI"/>
              </a:defRPr>
            </a:pPr>
            <a:r>
              <a:t>Schedule Overview: Anchor Date + period → Load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209544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63824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  <a:latin typeface="Segoe UI"/>
              </a:defRPr>
            </a:pPr>
            <a:r>
              <a:t>Open each session → Manage Session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14215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968496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  <a:latin typeface="Segoe UI"/>
              </a:defRPr>
            </a:pPr>
            <a:r>
              <a:t>Attendance · Notes · Reports · Book coverage · Cases · Grade book (as shown)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818888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73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  <a:latin typeface="Segoe UI"/>
              </a:defRPr>
            </a:pPr>
            <a:r>
              <a:t>Session status = Completed → Save session → verify on schedule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806440"/>
            <a:ext cx="10881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Contact your school office or IT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Handout PDF matches this checklist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E077FE1-8200-FF9F-BC5F-4EE12D0B32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3182" y="6376423"/>
            <a:ext cx="28956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1196</Words>
  <Application>Microsoft Office PowerPoint</Application>
  <PresentationFormat>Widescreen</PresentationFormat>
  <Paragraphs>174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apaknejad@equilibrium.ab.ca</cp:lastModifiedBy>
  <cp:revision>3</cp:revision>
  <dcterms:created xsi:type="dcterms:W3CDTF">2013-01-27T09:14:16Z</dcterms:created>
  <dcterms:modified xsi:type="dcterms:W3CDTF">2026-10-22T21:05:30Z</dcterms:modified>
  <cp:category/>
</cp:coreProperties>
</file>